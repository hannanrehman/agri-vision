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3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mAP@50</c:v>
                </c:pt>
              </c:strCache>
            </c:strRef>
          </c:tx>
          <c:spPr>
            <a:ln w="44450">
              <a:solidFill>
                <a:srgbClr val="173F32"/>
              </a:solidFill>
            </a:ln>
          </c:spPr>
          <c:marker>
            <c:symbol val="none"/>
          </c:marker>
          <c:cat>
            <c:strRef>
              <c:f>Sheet1!$A$2:$A$16</c:f>
              <c:strCache>
                <c:ptCount val="15"/>
                <c:pt idx="0">
                  <c:v>26</c:v>
                </c:pt>
                <c:pt idx="1">
                  <c:v>27</c:v>
                </c:pt>
                <c:pt idx="2">
                  <c:v>28</c:v>
                </c:pt>
                <c:pt idx="3">
                  <c:v>29</c:v>
                </c:pt>
                <c:pt idx="4">
                  <c:v>30</c:v>
                </c:pt>
                <c:pt idx="5">
                  <c:v>31</c:v>
                </c:pt>
                <c:pt idx="6">
                  <c:v>32</c:v>
                </c:pt>
                <c:pt idx="7">
                  <c:v>33</c:v>
                </c:pt>
                <c:pt idx="8">
                  <c:v>34</c:v>
                </c:pt>
                <c:pt idx="9">
                  <c:v>35</c:v>
                </c:pt>
                <c:pt idx="10">
                  <c:v>36</c:v>
                </c:pt>
                <c:pt idx="11">
                  <c:v>37</c:v>
                </c:pt>
                <c:pt idx="12">
                  <c:v>38</c:v>
                </c:pt>
                <c:pt idx="13">
                  <c:v>39</c:v>
                </c:pt>
                <c:pt idx="14">
                  <c:v>40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60.51099814194768</c:v>
                </c:pt>
                <c:pt idx="1">
                  <c:v>61.022304731052834</c:v>
                </c:pt>
                <c:pt idx="2">
                  <c:v>61.11339995455008</c:v>
                </c:pt>
                <c:pt idx="3">
                  <c:v>61.10687344177727</c:v>
                </c:pt>
                <c:pt idx="4">
                  <c:v>60.99842280833301</c:v>
                </c:pt>
                <c:pt idx="5">
                  <c:v>60.96214172670754</c:v>
                </c:pt>
                <c:pt idx="6">
                  <c:v>60.966348366782896</c:v>
                </c:pt>
                <c:pt idx="7">
                  <c:v>61.22303131276997</c:v>
                </c:pt>
                <c:pt idx="8">
                  <c:v>60.2967020954815</c:v>
                </c:pt>
                <c:pt idx="9">
                  <c:v>60.05117692103131</c:v>
                </c:pt>
                <c:pt idx="10">
                  <c:v>61.12247932585863</c:v>
                </c:pt>
                <c:pt idx="11">
                  <c:v>60.23119038192497</c:v>
                </c:pt>
                <c:pt idx="12">
                  <c:v>59.90493199723074</c:v>
                </c:pt>
                <c:pt idx="13">
                  <c:v>59.53794240502505</c:v>
                </c:pt>
                <c:pt idx="14">
                  <c:v>59.54519923724985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2000">
                <a:latin typeface="Apto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3.0"/>
          <c:min val="58.0"/>
        </c:scaling>
        <c:delete val="0"/>
        <c:axPos val="l"/>
        <c:majorGridlines/>
        <c:numFmt formatCode="0&quot;%&quot;" sourceLinked="0"/>
        <c:majorTickMark val="out"/>
        <c:minorTickMark val="none"/>
        <c:tickLblPos val="nextTo"/>
        <c:txPr>
          <a:bodyPr/>
          <a:lstStyle/>
          <a:p>
            <a:pPr>
              <a:defRPr sz="2000">
                <a:latin typeface="Aptos"/>
              </a:defRPr>
            </a:pPr>
          </a:p>
        </c:txPr>
        <c:crossAx val="2118791784"/>
        <c:crosses val="autoZero"/>
        <c:majorUnit val="1.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op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74320"/>
            <a:ext cx="11612880" cy="7741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594360"/>
            <a:ext cx="932688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2400" b="1">
                <a:solidFill>
                  <a:srgbClr val="B97722"/>
                </a:solidFill>
                <a:latin typeface="Aptos"/>
              </a:defRPr>
            </a:pPr>
            <a:r>
              <a:t>FINAL YEAR PROJECT  /  SEMINAR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9601200" cy="3931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11800" b="1">
                <a:solidFill>
                  <a:srgbClr val="173F32"/>
                </a:solidFill>
                <a:latin typeface="Aptos"/>
              </a:defRPr>
            </a:pPr>
            <a:r>
              <a:t>AGRI</a:t>
            </a:r>
          </a:p>
          <a:p>
            <a:pPr algn="l">
              <a:spcAft>
                <a:spcPts val="900"/>
              </a:spcAft>
              <a:defRPr sz="11800" b="1">
                <a:solidFill>
                  <a:srgbClr val="173F32"/>
                </a:solidFill>
                <a:latin typeface="Aptos"/>
              </a:defRPr>
            </a:pPr>
            <a:r>
              <a:t>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166360"/>
            <a:ext cx="9692640" cy="11430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3400" b="1">
                <a:solidFill>
                  <a:srgbClr val="173F32"/>
                </a:solidFill>
                <a:latin typeface="Aptos"/>
              </a:defRPr>
            </a:pPr>
            <a:r>
              <a:t>Federated learning for</a:t>
            </a:r>
          </a:p>
          <a:p>
            <a:pPr algn="l">
              <a:spcAft>
                <a:spcPts val="900"/>
              </a:spcAft>
              <a:defRPr sz="3400" b="1">
                <a:solidFill>
                  <a:srgbClr val="173F32"/>
                </a:solidFill>
                <a:latin typeface="Aptos"/>
              </a:defRPr>
            </a:pPr>
            <a:r>
              <a:t>crop-disease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537960"/>
            <a:ext cx="1956816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2700" b="1">
                <a:solidFill>
                  <a:srgbClr val="173F32"/>
                </a:solidFill>
                <a:latin typeface="Aptos"/>
              </a:defRPr>
            </a:pPr>
            <a:r>
              <a:t>Hannan Rehman  •  Fuzail Talpur  •  Ali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7132320"/>
            <a:ext cx="1956816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2700" b="0">
                <a:solidFill>
                  <a:srgbClr val="53685F"/>
                </a:solidFill>
                <a:latin typeface="Aptos"/>
              </a:defRPr>
            </a:pPr>
            <a:r>
              <a:t>Supervisor: Dr Rabeea Jaffari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909560"/>
            <a:ext cx="21387816" cy="868680"/>
          </a:xfrm>
          <a:prstGeom prst="rect">
            <a:avLst/>
          </a:prstGeom>
          <a:solidFill>
            <a:srgbClr val="173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8092440"/>
            <a:ext cx="1993392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900"/>
              </a:spcAft>
              <a:defRPr sz="2700" b="1">
                <a:solidFill>
                  <a:srgbClr val="FFFFFF"/>
                </a:solidFill>
                <a:latin typeface="Aptos"/>
              </a:defRPr>
            </a:pPr>
            <a:r>
              <a:t>BANANA   •   CAULIFLOWER   •   CHILI   •   GROUNDNUT   •   RADISH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9189720"/>
            <a:ext cx="196596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3100" b="1">
                <a:solidFill>
                  <a:srgbClr val="173F32"/>
                </a:solidFill>
                <a:latin typeface="Aptos"/>
              </a:defRPr>
            </a:pPr>
            <a:r>
              <a:t>FIVE CROPS. THIRTY DETECTION CLASSES.</a:t>
            </a:r>
          </a:p>
        </p:txBody>
      </p:sp>
      <p:pic>
        <p:nvPicPr>
          <p:cNvPr id="11" name="Picture 10" descr="sigatoka-794-_jpeg.rf.86c015db5501df3588751a4b00f25849.jpg"/>
          <p:cNvPicPr>
            <a:picLocks noChangeAspect="1"/>
          </p:cNvPicPr>
          <p:nvPr/>
        </p:nvPicPr>
        <p:blipFill>
          <a:blip r:embed="rId3"/>
          <a:srcRect t="24629" b="24629"/>
          <a:stretch>
            <a:fillRect/>
          </a:stretch>
        </p:blipFill>
        <p:spPr>
          <a:xfrm>
            <a:off x="868680" y="9921240"/>
            <a:ext cx="3694176" cy="187451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11923776"/>
            <a:ext cx="3694176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900"/>
              </a:spcAft>
              <a:defRPr sz="2600" b="1">
                <a:solidFill>
                  <a:srgbClr val="173F32"/>
                </a:solidFill>
                <a:latin typeface="Aptos"/>
              </a:defRPr>
            </a:pPr>
            <a:r>
              <a:t>Banana</a:t>
            </a:r>
          </a:p>
        </p:txBody>
      </p:sp>
      <p:pic>
        <p:nvPicPr>
          <p:cNvPr id="13" name="Picture 12" descr="Black-Rot-11-_jpeg.rf.b0ad96c41b1eb43d30080bd3b82425fc.jpg"/>
          <p:cNvPicPr>
            <a:picLocks noChangeAspect="1"/>
          </p:cNvPicPr>
          <p:nvPr/>
        </p:nvPicPr>
        <p:blipFill>
          <a:blip r:embed="rId4"/>
          <a:srcRect t="24629" b="24629"/>
          <a:stretch>
            <a:fillRect/>
          </a:stretch>
        </p:blipFill>
        <p:spPr>
          <a:xfrm>
            <a:off x="4855464" y="9921240"/>
            <a:ext cx="3694176" cy="187451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55464" y="11923776"/>
            <a:ext cx="3694176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900"/>
              </a:spcAft>
              <a:defRPr sz="2600" b="1">
                <a:solidFill>
                  <a:srgbClr val="173F32"/>
                </a:solidFill>
                <a:latin typeface="Aptos"/>
              </a:defRPr>
            </a:pPr>
            <a:r>
              <a:t>Cauliflower</a:t>
            </a:r>
          </a:p>
        </p:txBody>
      </p:sp>
      <p:pic>
        <p:nvPicPr>
          <p:cNvPr id="15" name="Picture 14" descr="Anthracnose-186-_jpg.rf.fd2b7a00d806739bd6fb96f1957c7d81.jpg"/>
          <p:cNvPicPr>
            <a:picLocks noChangeAspect="1"/>
          </p:cNvPicPr>
          <p:nvPr/>
        </p:nvPicPr>
        <p:blipFill>
          <a:blip r:embed="rId5"/>
          <a:srcRect t="24629" b="24629"/>
          <a:stretch>
            <a:fillRect/>
          </a:stretch>
        </p:blipFill>
        <p:spPr>
          <a:xfrm>
            <a:off x="8842248" y="9921240"/>
            <a:ext cx="3694176" cy="187451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842248" y="11923776"/>
            <a:ext cx="3694176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900"/>
              </a:spcAft>
              <a:defRPr sz="2600" b="1">
                <a:solidFill>
                  <a:srgbClr val="173F32"/>
                </a:solidFill>
                <a:latin typeface="Aptos"/>
              </a:defRPr>
            </a:pPr>
            <a:r>
              <a:t>Chili</a:t>
            </a:r>
          </a:p>
        </p:txBody>
      </p:sp>
      <p:pic>
        <p:nvPicPr>
          <p:cNvPr id="17" name="Picture 16" descr="Early-Leaf-Spot-818-_jpg.rf.bf70e3ba056b64179ac0a53c1bc83e55.jpg"/>
          <p:cNvPicPr>
            <a:picLocks noChangeAspect="1"/>
          </p:cNvPicPr>
          <p:nvPr/>
        </p:nvPicPr>
        <p:blipFill>
          <a:blip r:embed="rId6"/>
          <a:srcRect t="24629" b="24629"/>
          <a:stretch>
            <a:fillRect/>
          </a:stretch>
        </p:blipFill>
        <p:spPr>
          <a:xfrm>
            <a:off x="12829032" y="9921240"/>
            <a:ext cx="3694176" cy="187451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829032" y="11923776"/>
            <a:ext cx="3694176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900"/>
              </a:spcAft>
              <a:defRPr sz="2600" b="1">
                <a:solidFill>
                  <a:srgbClr val="173F32"/>
                </a:solidFill>
                <a:latin typeface="Aptos"/>
              </a:defRPr>
            </a:pPr>
            <a:r>
              <a:t>Groundnut</a:t>
            </a:r>
          </a:p>
        </p:txBody>
      </p:sp>
      <p:pic>
        <p:nvPicPr>
          <p:cNvPr id="19" name="Picture 18" descr="Black-Leaf-Spot-483-_jpg.rf.509f411998b8ebf4a23e60fda7766d89.jpg"/>
          <p:cNvPicPr>
            <a:picLocks noChangeAspect="1"/>
          </p:cNvPicPr>
          <p:nvPr/>
        </p:nvPicPr>
        <p:blipFill>
          <a:blip r:embed="rId7"/>
          <a:srcRect t="24629" b="24629"/>
          <a:stretch>
            <a:fillRect/>
          </a:stretch>
        </p:blipFill>
        <p:spPr>
          <a:xfrm>
            <a:off x="16815816" y="9921240"/>
            <a:ext cx="3694176" cy="187451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815816" y="11923776"/>
            <a:ext cx="3694176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900"/>
              </a:spcAft>
              <a:defRPr sz="2600" b="1">
                <a:solidFill>
                  <a:srgbClr val="173F32"/>
                </a:solidFill>
                <a:latin typeface="Aptos"/>
              </a:defRPr>
            </a:pPr>
            <a:r>
              <a:t>Radish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12527280"/>
            <a:ext cx="195681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2200" b="0">
                <a:solidFill>
                  <a:srgbClr val="53685F"/>
                </a:solidFill>
                <a:latin typeface="Aptos"/>
              </a:defRPr>
            </a:pPr>
            <a:r>
              <a:t>Examples from the labelled dataset; these photographs are not model predictions.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13304520"/>
            <a:ext cx="5486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2800" b="1">
                <a:solidFill>
                  <a:srgbClr val="B97722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13304520"/>
            <a:ext cx="8686800" cy="5943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3200" b="1">
                <a:solidFill>
                  <a:srgbClr val="173F32"/>
                </a:solidFill>
                <a:latin typeface="Aptos"/>
              </a:defRPr>
            </a:pPr>
            <a:r>
              <a:t>THE CHALLENGE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14017752"/>
            <a:ext cx="9326880" cy="32004"/>
          </a:xfrm>
          <a:prstGeom prst="rect">
            <a:avLst/>
          </a:prstGeom>
          <a:solidFill>
            <a:srgbClr val="173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14310360"/>
            <a:ext cx="9326880" cy="21031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2800" b="0">
                <a:solidFill>
                  <a:srgbClr val="233B32"/>
                </a:solidFill>
                <a:latin typeface="Aptos"/>
              </a:defRPr>
            </a:pPr>
            <a:r>
              <a:t>Visible disease symptoms can be small, similar across classes, and unevenly represented in crop datasets. Agri Vision explores automated symptom localisation while training a shared model across separate client partitions.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16596359"/>
            <a:ext cx="5486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2800" b="1">
                <a:solidFill>
                  <a:srgbClr val="B9772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16596359"/>
            <a:ext cx="8686800" cy="5943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3200" b="1">
                <a:solidFill>
                  <a:srgbClr val="173F32"/>
                </a:solidFill>
                <a:latin typeface="Aptos"/>
              </a:defRPr>
            </a:pPr>
            <a:r>
              <a:t>OUR APPROACH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" y="17309592"/>
            <a:ext cx="9326880" cy="32004"/>
          </a:xfrm>
          <a:prstGeom prst="rect">
            <a:avLst/>
          </a:prstGeom>
          <a:solidFill>
            <a:srgbClr val="173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17602200"/>
            <a:ext cx="9326880" cy="17373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2800" b="0">
                <a:solidFill>
                  <a:srgbClr val="233B32"/>
                </a:solidFill>
                <a:latin typeface="Aptos"/>
              </a:defRPr>
            </a:pPr>
            <a:r>
              <a:t>YOLOv8n detects symptom regions and predicts their classes. Three clients train locally from a shared checkpoint; sample-weighted FedAvg combines their model weights.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" y="19613880"/>
            <a:ext cx="2880360" cy="1051560"/>
          </a:xfrm>
          <a:prstGeom prst="roundRect">
            <a:avLst>
              <a:gd name="adj" fmla="val 8000"/>
            </a:avLst>
          </a:prstGeom>
          <a:solidFill>
            <a:srgbClr val="E7E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7" y="19741896"/>
            <a:ext cx="2660904" cy="841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900"/>
              </a:spcAft>
              <a:defRPr sz="2300" b="1">
                <a:solidFill>
                  <a:srgbClr val="173F32"/>
                </a:solidFill>
                <a:latin typeface="Aptos"/>
              </a:defRPr>
            </a:pPr>
            <a:r>
              <a:t>CLIENT 1</a:t>
            </a:r>
          </a:p>
          <a:p>
            <a:pPr algn="ctr">
              <a:spcAft>
                <a:spcPts val="900"/>
              </a:spcAft>
              <a:defRPr sz="2300" b="1">
                <a:solidFill>
                  <a:srgbClr val="173F32"/>
                </a:solidFill>
                <a:latin typeface="Aptos"/>
              </a:defRPr>
            </a:pPr>
            <a:r>
              <a:t>Local training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2103120" y="20784312"/>
            <a:ext cx="411480" cy="548640"/>
          </a:xfrm>
          <a:prstGeom prst="downArrow">
            <a:avLst/>
          </a:prstGeom>
          <a:solidFill>
            <a:srgbClr val="B9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032504" y="19613880"/>
            <a:ext cx="2880360" cy="1051560"/>
          </a:xfrm>
          <a:prstGeom prst="roundRect">
            <a:avLst>
              <a:gd name="adj" fmla="val 8000"/>
            </a:avLst>
          </a:prstGeom>
          <a:solidFill>
            <a:srgbClr val="E7E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42232" y="19741896"/>
            <a:ext cx="2660904" cy="841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900"/>
              </a:spcAft>
              <a:defRPr sz="2300" b="1">
                <a:solidFill>
                  <a:srgbClr val="173F32"/>
                </a:solidFill>
                <a:latin typeface="Aptos"/>
              </a:defRPr>
            </a:pPr>
            <a:r>
              <a:t>CLIENT 2</a:t>
            </a:r>
          </a:p>
          <a:p>
            <a:pPr algn="ctr">
              <a:spcAft>
                <a:spcPts val="900"/>
              </a:spcAft>
              <a:defRPr sz="2300" b="1">
                <a:solidFill>
                  <a:srgbClr val="173F32"/>
                </a:solidFill>
                <a:latin typeface="Aptos"/>
              </a:defRPr>
            </a:pPr>
            <a:r>
              <a:t>Local training</a:t>
            </a:r>
          </a:p>
        </p:txBody>
      </p:sp>
      <p:sp>
        <p:nvSpPr>
          <p:cNvPr id="35" name="Down Arrow 34"/>
          <p:cNvSpPr/>
          <p:nvPr/>
        </p:nvSpPr>
        <p:spPr>
          <a:xfrm>
            <a:off x="5266944" y="20784312"/>
            <a:ext cx="411480" cy="548640"/>
          </a:xfrm>
          <a:prstGeom prst="downArrow">
            <a:avLst/>
          </a:prstGeom>
          <a:solidFill>
            <a:srgbClr val="B9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196328" y="19613880"/>
            <a:ext cx="2880360" cy="1051560"/>
          </a:xfrm>
          <a:prstGeom prst="roundRect">
            <a:avLst>
              <a:gd name="adj" fmla="val 8000"/>
            </a:avLst>
          </a:prstGeom>
          <a:solidFill>
            <a:srgbClr val="E7E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06056" y="19741896"/>
            <a:ext cx="2660904" cy="841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900"/>
              </a:spcAft>
              <a:defRPr sz="2300" b="1">
                <a:solidFill>
                  <a:srgbClr val="173F32"/>
                </a:solidFill>
                <a:latin typeface="Aptos"/>
              </a:defRPr>
            </a:pPr>
            <a:r>
              <a:t>CLIENT 3</a:t>
            </a:r>
          </a:p>
          <a:p>
            <a:pPr algn="ctr">
              <a:spcAft>
                <a:spcPts val="900"/>
              </a:spcAft>
              <a:defRPr sz="2300" b="1">
                <a:solidFill>
                  <a:srgbClr val="173F32"/>
                </a:solidFill>
                <a:latin typeface="Aptos"/>
              </a:defRPr>
            </a:pPr>
            <a:r>
              <a:t>Local training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8430768" y="20784312"/>
            <a:ext cx="411480" cy="548640"/>
          </a:xfrm>
          <a:prstGeom prst="downArrow">
            <a:avLst/>
          </a:prstGeom>
          <a:solidFill>
            <a:srgbClr val="B9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68680" y="21534120"/>
            <a:ext cx="9326880" cy="841248"/>
          </a:xfrm>
          <a:prstGeom prst="roundRect">
            <a:avLst>
              <a:gd name="adj" fmla="val 8000"/>
            </a:avLst>
          </a:prstGeom>
          <a:solidFill>
            <a:srgbClr val="173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21735288"/>
            <a:ext cx="896112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900"/>
              </a:spcAft>
              <a:defRPr sz="2500" b="1">
                <a:solidFill>
                  <a:srgbClr val="FFFFFF"/>
                </a:solidFill>
                <a:latin typeface="Aptos"/>
              </a:defRPr>
            </a:pPr>
            <a:r>
              <a:t>SAMPLE-WEIGHTED FEDAVG  →  GLOBAL MODEL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22585680"/>
            <a:ext cx="93268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900"/>
              </a:spcAft>
              <a:defRPr sz="2500" b="0">
                <a:solidFill>
                  <a:srgbClr val="53685F"/>
                </a:solidFill>
                <a:latin typeface="Aptos"/>
              </a:defRPr>
            </a:pPr>
            <a:r>
              <a:t>Repeat local training → aggregate → validate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23225760"/>
            <a:ext cx="9326880" cy="9144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2300" b="0">
                <a:solidFill>
                  <a:srgbClr val="53685F"/>
                </a:solidFill>
                <a:latin typeface="Aptos"/>
              </a:defRPr>
            </a:pPr>
            <a:r>
              <a:t>Prototype: sequential three-client simulation on one Tesla T4. This is not a deployed multi-device system.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18520" y="13304520"/>
            <a:ext cx="5486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2800" b="1">
                <a:solidFill>
                  <a:srgbClr val="B97722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658600" y="13304520"/>
            <a:ext cx="8686800" cy="5943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3200" b="1">
                <a:solidFill>
                  <a:srgbClr val="173F32"/>
                </a:solidFill>
                <a:latin typeface="Aptos"/>
              </a:defRPr>
            </a:pPr>
            <a:r>
              <a:t>HELD-OUT TEST RESULTS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018520" y="14017752"/>
            <a:ext cx="9326880" cy="32004"/>
          </a:xfrm>
          <a:prstGeom prst="rect">
            <a:avLst/>
          </a:prstGeom>
          <a:solidFill>
            <a:srgbClr val="173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018520" y="14264640"/>
            <a:ext cx="932688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2500" b="0">
                <a:solidFill>
                  <a:srgbClr val="53685F"/>
                </a:solidFill>
                <a:latin typeface="Aptos"/>
              </a:defRPr>
            </a:pPr>
            <a:r>
              <a:t>Round 35  •  All 30 classes  •  2,191 test images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018520" y="15179040"/>
            <a:ext cx="4544568" cy="1463040"/>
          </a:xfrm>
          <a:prstGeom prst="roundRect">
            <a:avLst>
              <a:gd name="adj" fmla="val 8000"/>
            </a:avLst>
          </a:prstGeom>
          <a:solidFill>
            <a:srgbClr val="E7E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201400" y="15288768"/>
            <a:ext cx="4178808" cy="76809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4700" b="1">
                <a:solidFill>
                  <a:srgbClr val="173F32"/>
                </a:solidFill>
                <a:latin typeface="Aptos"/>
              </a:defRPr>
            </a:pPr>
            <a:r>
              <a:t>63.72%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01400" y="16111728"/>
            <a:ext cx="4178808" cy="4297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2500" b="0">
                <a:solidFill>
                  <a:srgbClr val="53685F"/>
                </a:solidFill>
                <a:latin typeface="Aptos"/>
              </a:defRPr>
            </a:pPr>
            <a:r>
              <a:t>Precision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773400" y="15179040"/>
            <a:ext cx="4544568" cy="1463040"/>
          </a:xfrm>
          <a:prstGeom prst="roundRect">
            <a:avLst>
              <a:gd name="adj" fmla="val 8000"/>
            </a:avLst>
          </a:prstGeom>
          <a:solidFill>
            <a:srgbClr val="E7E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956280" y="15288768"/>
            <a:ext cx="4178808" cy="76809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4700" b="1">
                <a:solidFill>
                  <a:srgbClr val="173F32"/>
                </a:solidFill>
                <a:latin typeface="Aptos"/>
              </a:defRPr>
            </a:pPr>
            <a:r>
              <a:t>54.81%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956280" y="16111728"/>
            <a:ext cx="4178808" cy="4297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2500" b="0">
                <a:solidFill>
                  <a:srgbClr val="53685F"/>
                </a:solidFill>
                <a:latin typeface="Aptos"/>
              </a:defRPr>
            </a:pPr>
            <a:r>
              <a:t>Recall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018520" y="16824960"/>
            <a:ext cx="4544568" cy="1463040"/>
          </a:xfrm>
          <a:prstGeom prst="roundRect">
            <a:avLst>
              <a:gd name="adj" fmla="val 8000"/>
            </a:avLst>
          </a:prstGeom>
          <a:solidFill>
            <a:srgbClr val="E7E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201400" y="16934688"/>
            <a:ext cx="4178808" cy="76809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4700" b="1">
                <a:solidFill>
                  <a:srgbClr val="173F32"/>
                </a:solidFill>
                <a:latin typeface="Aptos"/>
              </a:defRPr>
            </a:pPr>
            <a:r>
              <a:t>55.72%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01400" y="17757648"/>
            <a:ext cx="4178808" cy="4297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2500" b="0">
                <a:solidFill>
                  <a:srgbClr val="53685F"/>
                </a:solidFill>
                <a:latin typeface="Aptos"/>
              </a:defRPr>
            </a:pPr>
            <a:r>
              <a:t>mAP@50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5773400" y="16824960"/>
            <a:ext cx="4544568" cy="1463040"/>
          </a:xfrm>
          <a:prstGeom prst="roundRect">
            <a:avLst>
              <a:gd name="adj" fmla="val 8000"/>
            </a:avLst>
          </a:prstGeom>
          <a:solidFill>
            <a:srgbClr val="E7E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956280" y="16934688"/>
            <a:ext cx="4178808" cy="76809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4700" b="1">
                <a:solidFill>
                  <a:srgbClr val="173F32"/>
                </a:solidFill>
                <a:latin typeface="Aptos"/>
              </a:defRPr>
            </a:pPr>
            <a:r>
              <a:t>37.26%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956280" y="17757648"/>
            <a:ext cx="4178808" cy="4297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2500" b="0">
                <a:solidFill>
                  <a:srgbClr val="53685F"/>
                </a:solidFill>
                <a:latin typeface="Aptos"/>
              </a:defRPr>
            </a:pPr>
            <a:r>
              <a:t>mAP@50–95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018520" y="18580608"/>
            <a:ext cx="9326880" cy="841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2200" b="0">
                <a:solidFill>
                  <a:srgbClr val="53685F"/>
                </a:solidFill>
                <a:latin typeface="Aptos"/>
              </a:defRPr>
            </a:pPr>
            <a:r>
              <a:t>Macro averages across classes. Precision and recall use the evaluation operating point selected over all 30 classes.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18520" y="19705320"/>
            <a:ext cx="5486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2800" b="1">
                <a:solidFill>
                  <a:srgbClr val="B97722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658600" y="19705320"/>
            <a:ext cx="8686800" cy="5943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3200" b="1">
                <a:solidFill>
                  <a:srgbClr val="173F32"/>
                </a:solidFill>
                <a:latin typeface="Aptos"/>
              </a:defRPr>
            </a:pPr>
            <a:r>
              <a:t>TRAINING TREND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018520" y="20418552"/>
            <a:ext cx="9326880" cy="32004"/>
          </a:xfrm>
          <a:prstGeom prst="rect">
            <a:avLst/>
          </a:prstGeom>
          <a:solidFill>
            <a:srgbClr val="173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10835640" y="20574000"/>
          <a:ext cx="9646920" cy="256032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11018520" y="23317200"/>
            <a:ext cx="932688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2200" b="0">
                <a:solidFill>
                  <a:srgbClr val="53685F"/>
                </a:solidFill>
                <a:latin typeface="Aptos"/>
              </a:defRPr>
            </a:pPr>
            <a:r>
              <a:t>Rounds 26–40 · Client-weighted validation mAP@50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8680" y="24688800"/>
            <a:ext cx="19476720" cy="3767328"/>
          </a:xfrm>
          <a:prstGeom prst="roundRect">
            <a:avLst>
              <a:gd name="adj" fmla="val 8000"/>
            </a:avLst>
          </a:prstGeom>
          <a:solidFill>
            <a:srgbClr val="173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234440" y="25008840"/>
            <a:ext cx="18699480" cy="5943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3400" b="1">
                <a:solidFill>
                  <a:srgbClr val="FFFFFF"/>
                </a:solidFill>
                <a:latin typeface="Aptos"/>
              </a:defRPr>
            </a:pPr>
            <a:r>
              <a:t>WHAT THE RESULTS SHOW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34440" y="25786080"/>
            <a:ext cx="1869948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3000" b="1">
                <a:solidFill>
                  <a:srgbClr val="DCE8D2"/>
                </a:solidFill>
                <a:latin typeface="Aptos"/>
              </a:defRPr>
            </a:pPr>
            <a:r>
              <a:t>The latest checkpoint was not the strongest.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34440" y="26517600"/>
            <a:ext cx="18699480" cy="1417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2700" b="0">
                <a:solidFill>
                  <a:srgbClr val="FFFFFF"/>
                </a:solidFill>
                <a:latin typeface="Aptos"/>
              </a:defRPr>
            </a:pPr>
            <a:r>
              <a:t>Among rounds 26–40, validation mAP@50 peaked at 61.22% in round 33, then reached 59.55% in round 40. Validation mAP@50–95 peaked at 40.61% in round 30. These validation scores are separate from the held-out test results above.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8680" y="28757880"/>
            <a:ext cx="19476720" cy="8686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2500" b="1">
                <a:solidFill>
                  <a:srgbClr val="173F32"/>
                </a:solidFill>
                <a:latin typeface="Aptos"/>
              </a:defRPr>
            </a:pPr>
            <a:r>
              <a:t>NEXT: review weak-class labels and data balance; select checkpoints on validation performance; run a controlled Faster R-CNN comparison.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29791152"/>
            <a:ext cx="194767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900"/>
              </a:spcAft>
              <a:defRPr sz="2000" b="0">
                <a:solidFill>
                  <a:srgbClr val="53685F"/>
                </a:solidFill>
                <a:latin typeface="Aptos"/>
              </a:defRPr>
            </a:pPr>
            <a:r>
              <a:t>DATA SPLIT  15,512 train  /  4,374 validation  /  2,191 test     •     MODEL  YOLOv8n + FedAvg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Agri Vision — FYP Seminar Poster</dc:title>
  <dc:subject>A1 portrait; crop-disease detection with three-client federated learning</dc:subject>
  <dc:creator>Hannan Rehman, Fuzail Talpur, Ali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