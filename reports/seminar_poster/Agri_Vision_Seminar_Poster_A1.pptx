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438912"/>
            <a:ext cx="8321040" cy="438912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075D93"/>
                </a:solidFill>
                <a:latin typeface="Aptos"/>
              </a:defRPr>
            </a:pPr>
            <a:r>
              <a:t>FINAL YEAR PROJECT  / 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005840"/>
            <a:ext cx="10058400" cy="59436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600" b="0">
                <a:solidFill>
                  <a:srgbClr val="526779"/>
                </a:solidFill>
                <a:latin typeface="Aptos"/>
              </a:defRPr>
            </a:pPr>
            <a:r>
              <a:t>Federated learning for crop-disease detection</a:t>
            </a:r>
          </a:p>
        </p:txBody>
      </p:sp>
      <p:sp>
        <p:nvSpPr>
          <p:cNvPr id="4" name="Oval 3"/>
          <p:cNvSpPr/>
          <p:nvPr/>
        </p:nvSpPr>
        <p:spPr>
          <a:xfrm rot="2220000">
            <a:off x="11951208" y="356616"/>
            <a:ext cx="395020" cy="630936"/>
          </a:xfrm>
          <a:prstGeom prst="ellipse">
            <a:avLst/>
          </a:prstGeom>
          <a:solidFill>
            <a:srgbClr val="226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220000">
            <a:off x="12165177" y="493776"/>
            <a:ext cx="19202" cy="427939"/>
          </a:xfrm>
          <a:prstGeom prst="rect">
            <a:avLst/>
          </a:prstGeom>
          <a:solidFill>
            <a:srgbClr val="C8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1161288"/>
            <a:ext cx="2212848" cy="32004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226D4A"/>
                </a:solidFill>
                <a:latin typeface="Aptos"/>
              </a:defRPr>
            </a:pPr>
            <a:r>
              <a:t>BANANA</a:t>
            </a:r>
          </a:p>
        </p:txBody>
      </p:sp>
      <p:sp>
        <p:nvSpPr>
          <p:cNvPr id="7" name="Oval 6"/>
          <p:cNvSpPr/>
          <p:nvPr/>
        </p:nvSpPr>
        <p:spPr>
          <a:xfrm rot="2220000">
            <a:off x="14209776" y="356616"/>
            <a:ext cx="395020" cy="630936"/>
          </a:xfrm>
          <a:prstGeom prst="ellipse">
            <a:avLst/>
          </a:prstGeom>
          <a:solidFill>
            <a:srgbClr val="226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220000">
            <a:off x="14423745" y="493776"/>
            <a:ext cx="19202" cy="427939"/>
          </a:xfrm>
          <a:prstGeom prst="rect">
            <a:avLst/>
          </a:prstGeom>
          <a:solidFill>
            <a:srgbClr val="C8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59968" y="1161288"/>
            <a:ext cx="2212848" cy="32004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226D4A"/>
                </a:solidFill>
                <a:latin typeface="Aptos"/>
              </a:defRPr>
            </a:pPr>
            <a:r>
              <a:t>CAULIFLOWER</a:t>
            </a:r>
          </a:p>
        </p:txBody>
      </p:sp>
      <p:sp>
        <p:nvSpPr>
          <p:cNvPr id="10" name="Oval 9"/>
          <p:cNvSpPr/>
          <p:nvPr/>
        </p:nvSpPr>
        <p:spPr>
          <a:xfrm rot="2220000">
            <a:off x="16468344" y="356616"/>
            <a:ext cx="395020" cy="630936"/>
          </a:xfrm>
          <a:prstGeom prst="ellipse">
            <a:avLst/>
          </a:prstGeom>
          <a:solidFill>
            <a:srgbClr val="226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220000">
            <a:off x="16682313" y="493776"/>
            <a:ext cx="19202" cy="427939"/>
          </a:xfrm>
          <a:prstGeom prst="rect">
            <a:avLst/>
          </a:prstGeom>
          <a:solidFill>
            <a:srgbClr val="C8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18536" y="1161288"/>
            <a:ext cx="2212848" cy="32004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226D4A"/>
                </a:solidFill>
                <a:latin typeface="Aptos"/>
              </a:defRPr>
            </a:pPr>
            <a:r>
              <a:t>GROUNDNUT</a:t>
            </a:r>
          </a:p>
        </p:txBody>
      </p:sp>
      <p:sp>
        <p:nvSpPr>
          <p:cNvPr id="13" name="Oval 12"/>
          <p:cNvSpPr/>
          <p:nvPr/>
        </p:nvSpPr>
        <p:spPr>
          <a:xfrm rot="2220000">
            <a:off x="18726912" y="356616"/>
            <a:ext cx="395020" cy="630936"/>
          </a:xfrm>
          <a:prstGeom prst="ellipse">
            <a:avLst/>
          </a:prstGeom>
          <a:solidFill>
            <a:srgbClr val="226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220000">
            <a:off x="18940881" y="493776"/>
            <a:ext cx="19202" cy="427939"/>
          </a:xfrm>
          <a:prstGeom prst="rect">
            <a:avLst/>
          </a:prstGeom>
          <a:solidFill>
            <a:srgbClr val="C8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977104" y="1161288"/>
            <a:ext cx="2212848" cy="32004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226D4A"/>
                </a:solidFill>
                <a:latin typeface="Aptos"/>
              </a:defRPr>
            </a:pPr>
            <a:r>
              <a:t>RADISH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21384000" cy="1856231"/>
          </a:xfrm>
          <a:prstGeom prst="rect">
            <a:avLst/>
          </a:prstGeom>
          <a:solidFill>
            <a:srgbClr val="07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901952"/>
            <a:ext cx="19555200" cy="116128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7300" b="1">
                <a:solidFill>
                  <a:srgbClr val="FFFFFF"/>
                </a:solidFill>
                <a:latin typeface="Aptos"/>
              </a:defRPr>
            </a:pPr>
            <a:r>
              <a:t>AGRI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191256"/>
            <a:ext cx="19555200" cy="41148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FFFFFF"/>
                </a:solidFill>
                <a:latin typeface="Aptos"/>
              </a:defRPr>
            </a:pPr>
            <a:r>
              <a:t>Detecting crop symptoms. Comparing lightweight one-stage detectors.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31336"/>
            <a:ext cx="11521440" cy="47548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600" b="1">
                <a:solidFill>
                  <a:srgbClr val="075D93"/>
                </a:solidFill>
                <a:latin typeface="Aptos"/>
              </a:defRPr>
            </a:pPr>
            <a:r>
              <a:t>Hannan Rehman  •  Fuzail Talpur  •  Ali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0" y="3831336"/>
            <a:ext cx="8549640" cy="47548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  <a:defRPr sz="2600" b="0">
                <a:solidFill>
                  <a:srgbClr val="526779"/>
                </a:solidFill>
                <a:latin typeface="Aptos"/>
              </a:defRPr>
            </a:pPr>
            <a:r>
              <a:t>Supervisor: Dr Rabeea Jaffari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72000"/>
            <a:ext cx="201038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39B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718304"/>
            <a:ext cx="19189440" cy="50292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075D93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2526" y="5741517"/>
            <a:ext cx="55686" cy="954633"/>
          </a:xfrm>
          <a:prstGeom prst="rect">
            <a:avLst/>
          </a:prstGeom>
          <a:solidFill>
            <a:srgbClr val="226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2220000">
            <a:off x="1484985" y="5566501"/>
            <a:ext cx="429585" cy="686142"/>
          </a:xfrm>
          <a:prstGeom prst="ellipse">
            <a:avLst/>
          </a:prstGeom>
          <a:solidFill>
            <a:srgbClr val="226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220000">
            <a:off x="1717677" y="5715662"/>
            <a:ext cx="20882" cy="465383"/>
          </a:xfrm>
          <a:prstGeom prst="rect">
            <a:avLst/>
          </a:prstGeom>
          <a:solidFill>
            <a:srgbClr val="C8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2220000">
            <a:off x="2002078" y="5327843"/>
            <a:ext cx="429585" cy="686142"/>
          </a:xfrm>
          <a:prstGeom prst="ellipse">
            <a:avLst/>
          </a:prstGeom>
          <a:solidFill>
            <a:srgbClr val="226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220000">
            <a:off x="2234770" y="5477004"/>
            <a:ext cx="20882" cy="465383"/>
          </a:xfrm>
          <a:prstGeom prst="rect">
            <a:avLst/>
          </a:prstGeom>
          <a:solidFill>
            <a:srgbClr val="C8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rapezoid 27"/>
          <p:cNvSpPr/>
          <p:nvPr/>
        </p:nvSpPr>
        <p:spPr>
          <a:xfrm>
            <a:off x="1484985" y="6616598"/>
            <a:ext cx="954633" cy="397764"/>
          </a:xfrm>
          <a:prstGeom prst="trapezoid">
            <a:avLst/>
          </a:prstGeom>
          <a:solidFill>
            <a:srgbClr val="07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5321808"/>
            <a:ext cx="16230600" cy="166420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600" b="0">
                <a:solidFill>
                  <a:srgbClr val="243747"/>
                </a:solidFill>
                <a:latin typeface="Aptos"/>
              </a:defRPr>
            </a:pPr>
            <a:r>
              <a:t>Agri Vision investigates crop-disease and pest-symptom detection using bounding boxes and disease labels. A three-client federated-learning simulation trains a shared detector across separate data partitions. The revised study covers banana, cauliflower, groundnut and radish across 24 classes. SSDLite, SSD–MobileNetV3 and EfficientDet-D0 are being compared with the retained historical YOLOv8n baseline.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406640"/>
            <a:ext cx="201038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39B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7552944"/>
            <a:ext cx="19189440" cy="50292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075D93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8129016"/>
            <a:ext cx="15910559" cy="138074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600" b="0">
                <a:solidFill>
                  <a:srgbClr val="243747"/>
                </a:solidFill>
                <a:latin typeface="Aptos"/>
              </a:defRPr>
            </a:pPr>
            <a:r>
              <a:t>• Small lesions and similar symptoms make visual diagnosis difficult.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2600" b="0">
                <a:solidFill>
                  <a:srgbClr val="243747"/>
                </a:solidFill>
                <a:latin typeface="Aptos"/>
              </a:defRPr>
            </a:pPr>
            <a:r>
              <a:t>• Uneven class representation and variable image quality affect detection.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2600" b="0">
                <a:solidFill>
                  <a:srgbClr val="243747"/>
                </a:solidFill>
                <a:latin typeface="Aptos"/>
              </a:defRPr>
            </a:pPr>
            <a:r>
              <a:t>• A useful detector must balance precision, recall, localisation and computing cost.</a:t>
            </a:r>
          </a:p>
        </p:txBody>
      </p:sp>
      <p:sp>
        <p:nvSpPr>
          <p:cNvPr id="33" name="Oval 32"/>
          <p:cNvSpPr/>
          <p:nvPr/>
        </p:nvSpPr>
        <p:spPr>
          <a:xfrm>
            <a:off x="17785080" y="8165592"/>
            <a:ext cx="1188720" cy="1188720"/>
          </a:xfrm>
          <a:prstGeom prst="ellipse">
            <a:avLst/>
          </a:prstGeom>
          <a:solidFill>
            <a:srgbClr val="EE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 rot="2220000">
            <a:off x="18114264" y="8247888"/>
            <a:ext cx="559612" cy="893825"/>
          </a:xfrm>
          <a:prstGeom prst="ellipse">
            <a:avLst/>
          </a:prstGeom>
          <a:solidFill>
            <a:srgbClr val="226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220000">
            <a:off x="18417387" y="8442198"/>
            <a:ext cx="27203" cy="606247"/>
          </a:xfrm>
          <a:prstGeom prst="rect">
            <a:avLst/>
          </a:prstGeom>
          <a:solidFill>
            <a:srgbClr val="C8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315431" y="8577072"/>
            <a:ext cx="128016" cy="128016"/>
          </a:xfrm>
          <a:prstGeom prst="ellipse">
            <a:avLst/>
          </a:prstGeom>
          <a:solidFill>
            <a:srgbClr val="A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562319" y="8805672"/>
            <a:ext cx="128016" cy="128016"/>
          </a:xfrm>
          <a:prstGeom prst="ellipse">
            <a:avLst/>
          </a:prstGeom>
          <a:solidFill>
            <a:srgbClr val="A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416015" y="8942832"/>
            <a:ext cx="128016" cy="128016"/>
          </a:xfrm>
          <a:prstGeom prst="ellipse">
            <a:avLst/>
          </a:prstGeom>
          <a:solidFill>
            <a:srgbClr val="A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8754344" y="9162288"/>
            <a:ext cx="457200" cy="73152"/>
          </a:xfrm>
          <a:prstGeom prst="rect">
            <a:avLst/>
          </a:prstGeom>
          <a:solidFill>
            <a:srgbClr val="07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" y="9966960"/>
            <a:ext cx="201038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39B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10113264"/>
            <a:ext cx="19189440" cy="50292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075D93"/>
                </a:solidFill>
                <a:latin typeface="Aptos"/>
              </a:defRPr>
            </a:pPr>
            <a:r>
              <a:t>AIM AND OBJECTIVES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01368" y="11029492"/>
            <a:ext cx="48646" cy="833932"/>
          </a:xfrm>
          <a:prstGeom prst="rect">
            <a:avLst/>
          </a:prstGeom>
          <a:solidFill>
            <a:srgbClr val="226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 rot="2220000">
            <a:off x="1419148" y="10876605"/>
            <a:ext cx="375269" cy="599389"/>
          </a:xfrm>
          <a:prstGeom prst="ellipse">
            <a:avLst/>
          </a:prstGeom>
          <a:solidFill>
            <a:srgbClr val="226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220000">
            <a:off x="1622419" y="11006907"/>
            <a:ext cx="18242" cy="406542"/>
          </a:xfrm>
          <a:prstGeom prst="rect">
            <a:avLst/>
          </a:prstGeom>
          <a:solidFill>
            <a:srgbClr val="C8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 rot="2220000">
            <a:off x="1870862" y="10668121"/>
            <a:ext cx="375269" cy="599389"/>
          </a:xfrm>
          <a:prstGeom prst="ellipse">
            <a:avLst/>
          </a:prstGeom>
          <a:solidFill>
            <a:srgbClr val="226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220000">
            <a:off x="2074133" y="10798423"/>
            <a:ext cx="18242" cy="406542"/>
          </a:xfrm>
          <a:prstGeom prst="rect">
            <a:avLst/>
          </a:prstGeom>
          <a:solidFill>
            <a:srgbClr val="C8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rapezoid 46"/>
          <p:cNvSpPr/>
          <p:nvPr/>
        </p:nvSpPr>
        <p:spPr>
          <a:xfrm>
            <a:off x="1419148" y="11793931"/>
            <a:ext cx="833932" cy="347472"/>
          </a:xfrm>
          <a:prstGeom prst="trapezoid">
            <a:avLst/>
          </a:prstGeom>
          <a:solidFill>
            <a:srgbClr val="07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10634472"/>
            <a:ext cx="16230600" cy="175564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43747"/>
                </a:solidFill>
                <a:latin typeface="Aptos"/>
              </a:defRPr>
            </a:pPr>
            <a:r>
              <a:t>Develop and assess an efficient federated crop-symptom detector.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43747"/>
                </a:solidFill>
                <a:latin typeface="Aptos"/>
              </a:defRPr>
            </a:pPr>
            <a:r>
              <a:t>• Use one verified 24-class dataset with fixed train, validation and test splits.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43747"/>
                </a:solidFill>
                <a:latin typeface="Aptos"/>
              </a:defRPr>
            </a:pPr>
            <a:r>
              <a:t>• Compare four complete one-stage detectors through separate experiments.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43747"/>
                </a:solidFill>
                <a:latin typeface="Aptos"/>
              </a:defRPr>
            </a:pPr>
            <a:r>
              <a:t>• Measure precision, recall, mAP, inference speed and model size.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12664440"/>
            <a:ext cx="201038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39B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12810744"/>
            <a:ext cx="19189440" cy="50292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075D93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13331952"/>
            <a:ext cx="19372320" cy="42062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526779"/>
                </a:solidFill>
                <a:latin typeface="Aptos"/>
              </a:defRPr>
            </a:pPr>
            <a:r>
              <a:t>Shared 24-class dataset  →  fixed three-client partitions  →  independent detector experiments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28800" y="13944600"/>
            <a:ext cx="4846320" cy="804672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 w="17780">
            <a:solidFill>
              <a:srgbClr val="D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65960" y="14127480"/>
            <a:ext cx="4572000" cy="41148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226D4A"/>
                </a:solidFill>
                <a:latin typeface="Aptos"/>
              </a:defRPr>
            </a:pPr>
            <a:r>
              <a:t>CLIENT 1  •  LOCAL TRAINING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4078224" y="14785848"/>
            <a:ext cx="329184" cy="320040"/>
          </a:xfrm>
          <a:prstGeom prst="downArrow">
            <a:avLst/>
          </a:prstGeom>
          <a:solidFill>
            <a:srgbClr val="39B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29600" y="13944600"/>
            <a:ext cx="4846320" cy="804672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 w="17780">
            <a:solidFill>
              <a:srgbClr val="D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14127480"/>
            <a:ext cx="4572000" cy="41148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226D4A"/>
                </a:solidFill>
                <a:latin typeface="Aptos"/>
              </a:defRPr>
            </a:pPr>
            <a:r>
              <a:t>CLIENT 2  •  LOCAL TRAINING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10479024" y="14785848"/>
            <a:ext cx="329184" cy="320040"/>
          </a:xfrm>
          <a:prstGeom prst="downArrow">
            <a:avLst/>
          </a:prstGeom>
          <a:solidFill>
            <a:srgbClr val="39B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4630400" y="13944600"/>
            <a:ext cx="4846320" cy="804672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 w="17780">
            <a:solidFill>
              <a:srgbClr val="D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767559" y="14127480"/>
            <a:ext cx="4572000" cy="41148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226D4A"/>
                </a:solidFill>
                <a:latin typeface="Aptos"/>
              </a:defRPr>
            </a:pPr>
            <a:r>
              <a:t>CLIENT 3  •  LOCAL TRAINING</a:t>
            </a:r>
          </a:p>
        </p:txBody>
      </p:sp>
      <p:sp>
        <p:nvSpPr>
          <p:cNvPr id="60" name="Down Arrow 59"/>
          <p:cNvSpPr/>
          <p:nvPr/>
        </p:nvSpPr>
        <p:spPr>
          <a:xfrm>
            <a:off x="16879824" y="14785848"/>
            <a:ext cx="329184" cy="320040"/>
          </a:xfrm>
          <a:prstGeom prst="downArrow">
            <a:avLst/>
          </a:prstGeom>
          <a:solidFill>
            <a:srgbClr val="39B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828800" y="15197328"/>
            <a:ext cx="17647920" cy="612648"/>
          </a:xfrm>
          <a:prstGeom prst="roundRect">
            <a:avLst>
              <a:gd name="adj" fmla="val 8000"/>
            </a:avLst>
          </a:prstGeom>
          <a:solidFill>
            <a:srgbClr val="07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15297912"/>
            <a:ext cx="17190720" cy="41148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TRAINING-IMAGE-WEIGHTED FEDAVG  →  GLOBAL DETECTOR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80160" y="16203167"/>
            <a:ext cx="4617720" cy="585216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 w="17780">
            <a:solidFill>
              <a:srgbClr val="D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53312" y="16294608"/>
            <a:ext cx="4471416" cy="393192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26D4A"/>
                </a:solidFill>
                <a:latin typeface="Aptos"/>
              </a:defRPr>
            </a:pPr>
            <a:r>
              <a:t>YOLOv8n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72200" y="16203167"/>
            <a:ext cx="4617720" cy="585216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 w="17780">
            <a:solidFill>
              <a:srgbClr val="D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45352" y="16294608"/>
            <a:ext cx="4471416" cy="393192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26D4A"/>
                </a:solidFill>
                <a:latin typeface="Aptos"/>
              </a:defRPr>
            </a:pPr>
            <a:r>
              <a:t>SSDLite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064240" y="16203167"/>
            <a:ext cx="4617720" cy="585216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 w="17780">
            <a:solidFill>
              <a:srgbClr val="D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137392" y="16294608"/>
            <a:ext cx="4471416" cy="393192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26D4A"/>
                </a:solidFill>
                <a:latin typeface="Aptos"/>
              </a:defRPr>
            </a:pPr>
            <a:r>
              <a:t>SSD–MobileNetV3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5956279" y="16203167"/>
            <a:ext cx="4617720" cy="585216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 w="17780">
            <a:solidFill>
              <a:srgbClr val="D8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29431" y="16294608"/>
            <a:ext cx="4471416" cy="393192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26D4A"/>
                </a:solidFill>
                <a:latin typeface="Aptos"/>
              </a:defRPr>
            </a:pPr>
            <a:r>
              <a:t>EfficientDet-D0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3000" y="16843248"/>
            <a:ext cx="19098000" cy="41148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075D93"/>
                </a:solidFill>
                <a:latin typeface="Aptos"/>
              </a:defRPr>
            </a:pPr>
            <a:r>
              <a:t>Train locally  →  aggregate  →  validate  →  save best/latest checkpoint  →  repeat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88720" y="17291304"/>
            <a:ext cx="19006560" cy="210312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526779"/>
                </a:solidFill>
                <a:latin typeface="Aptos"/>
              </a:defRPr>
            </a:pPr>
            <a:r>
              <a:t>Each architecture has its own weights and run. Clients are simulated sequentially on one GPU; this is not a deployed multi-device network.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" y="17785080"/>
            <a:ext cx="20103840" cy="8092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39B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97280" y="17931384"/>
            <a:ext cx="19189440" cy="50292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075D93"/>
                </a:solidFill>
                <a:latin typeface="Aptos"/>
              </a:defRPr>
            </a:pPr>
            <a:r>
              <a:t>RESULTS AND CURRENT PROGRESS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34440" y="18525744"/>
            <a:ext cx="10149840" cy="484632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226D4A"/>
                </a:solidFill>
                <a:latin typeface="Aptos"/>
              </a:defRPr>
            </a:pPr>
            <a:r>
              <a:t>PROVISIONAL 24-CLASS VALIDATION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234440" y="19248120"/>
            <a:ext cx="3246120" cy="530352"/>
          </a:xfrm>
          <a:prstGeom prst="rect">
            <a:avLst/>
          </a:prstGeom>
          <a:solidFill>
            <a:srgbClr val="07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07592" y="19357848"/>
            <a:ext cx="3099815" cy="33832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Detector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80560" y="19248120"/>
            <a:ext cx="1024128" cy="530352"/>
          </a:xfrm>
          <a:prstGeom prst="rect">
            <a:avLst/>
          </a:prstGeom>
          <a:solidFill>
            <a:srgbClr val="07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53712" y="19357848"/>
            <a:ext cx="877824" cy="33832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Round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04688" y="19248120"/>
            <a:ext cx="1865376" cy="530352"/>
          </a:xfrm>
          <a:prstGeom prst="rect">
            <a:avLst/>
          </a:prstGeom>
          <a:solidFill>
            <a:srgbClr val="07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77840" y="19357848"/>
            <a:ext cx="1719072" cy="33832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370064" y="19248120"/>
            <a:ext cx="1673352" cy="530352"/>
          </a:xfrm>
          <a:prstGeom prst="rect">
            <a:avLst/>
          </a:prstGeom>
          <a:solidFill>
            <a:srgbClr val="07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43216" y="19357848"/>
            <a:ext cx="1527048" cy="33832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43416" y="19248120"/>
            <a:ext cx="2029968" cy="530352"/>
          </a:xfrm>
          <a:prstGeom prst="rect">
            <a:avLst/>
          </a:prstGeom>
          <a:solidFill>
            <a:srgbClr val="075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16568" y="19357848"/>
            <a:ext cx="1883664" cy="33832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mAP50–95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34440" y="19778472"/>
            <a:ext cx="3246120" cy="612648"/>
          </a:xfrm>
          <a:prstGeom prst="rect">
            <a:avLst/>
          </a:prstGeom>
          <a:solidFill>
            <a:srgbClr val="EEF7F3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07592" y="19943064"/>
            <a:ext cx="3099815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43747"/>
                </a:solidFill>
                <a:latin typeface="Aptos"/>
              </a:defRPr>
            </a:pPr>
            <a:r>
              <a:t>SSDLite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80560" y="19778472"/>
            <a:ext cx="1024128" cy="612648"/>
          </a:xfrm>
          <a:prstGeom prst="rect">
            <a:avLst/>
          </a:prstGeom>
          <a:solidFill>
            <a:srgbClr val="EEF7F3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53712" y="19943064"/>
            <a:ext cx="877824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4374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04688" y="19778472"/>
            <a:ext cx="1865376" cy="612648"/>
          </a:xfrm>
          <a:prstGeom prst="rect">
            <a:avLst/>
          </a:prstGeom>
          <a:solidFill>
            <a:srgbClr val="EEF7F3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77840" y="19943064"/>
            <a:ext cx="1719072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43747"/>
                </a:solidFill>
                <a:latin typeface="Aptos"/>
              </a:defRPr>
            </a:pPr>
            <a:r>
              <a:t>66.44%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70064" y="19778472"/>
            <a:ext cx="1673352" cy="612648"/>
          </a:xfrm>
          <a:prstGeom prst="rect">
            <a:avLst/>
          </a:prstGeom>
          <a:solidFill>
            <a:srgbClr val="EEF7F3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43216" y="19943064"/>
            <a:ext cx="1527048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43747"/>
                </a:solidFill>
                <a:latin typeface="Aptos"/>
              </a:defRPr>
            </a:pPr>
            <a:r>
              <a:t>51.17%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43416" y="19778472"/>
            <a:ext cx="2029968" cy="612648"/>
          </a:xfrm>
          <a:prstGeom prst="rect">
            <a:avLst/>
          </a:prstGeom>
          <a:solidFill>
            <a:srgbClr val="EEF7F3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116568" y="19943064"/>
            <a:ext cx="1883664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43747"/>
                </a:solidFill>
                <a:latin typeface="Aptos"/>
              </a:defRPr>
            </a:pPr>
            <a:r>
              <a:t>39.06%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234440" y="20391120"/>
            <a:ext cx="3246120" cy="612648"/>
          </a:xfrm>
          <a:prstGeom prst="rect">
            <a:avLst/>
          </a:prstGeom>
          <a:solidFill>
            <a:srgbClr val="F6FAF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07592" y="20555712"/>
            <a:ext cx="3099815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43747"/>
                </a:solidFill>
                <a:latin typeface="Aptos"/>
              </a:defRPr>
            </a:pPr>
            <a:r>
              <a:t>SSD–MobileNetV3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480560" y="20391120"/>
            <a:ext cx="1024128" cy="612648"/>
          </a:xfrm>
          <a:prstGeom prst="rect">
            <a:avLst/>
          </a:prstGeom>
          <a:solidFill>
            <a:srgbClr val="F6FAF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553712" y="20555712"/>
            <a:ext cx="877824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4374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504688" y="20391120"/>
            <a:ext cx="1865376" cy="612648"/>
          </a:xfrm>
          <a:prstGeom prst="rect">
            <a:avLst/>
          </a:prstGeom>
          <a:solidFill>
            <a:srgbClr val="F6FAF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577840" y="20555712"/>
            <a:ext cx="1719072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43747"/>
                </a:solidFill>
                <a:latin typeface="Aptos"/>
              </a:defRPr>
            </a:pPr>
            <a:r>
              <a:t>57.92%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370064" y="20391120"/>
            <a:ext cx="1673352" cy="612648"/>
          </a:xfrm>
          <a:prstGeom prst="rect">
            <a:avLst/>
          </a:prstGeom>
          <a:solidFill>
            <a:srgbClr val="F6FAF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443216" y="20555712"/>
            <a:ext cx="1527048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43747"/>
                </a:solidFill>
                <a:latin typeface="Aptos"/>
              </a:defRPr>
            </a:pPr>
            <a:r>
              <a:t>47.61%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043416" y="20391120"/>
            <a:ext cx="2029968" cy="612648"/>
          </a:xfrm>
          <a:prstGeom prst="rect">
            <a:avLst/>
          </a:prstGeom>
          <a:solidFill>
            <a:srgbClr val="F6FAFC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16568" y="20555712"/>
            <a:ext cx="1883664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43747"/>
                </a:solidFill>
                <a:latin typeface="Aptos"/>
              </a:defRPr>
            </a:pPr>
            <a:r>
              <a:t>30.30%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234440" y="21003768"/>
            <a:ext cx="3246120" cy="612648"/>
          </a:xfrm>
          <a:prstGeom prst="rect">
            <a:avLst/>
          </a:prstGeom>
          <a:solidFill>
            <a:srgbClr val="EEF7F3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307592" y="21168360"/>
            <a:ext cx="3099815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43747"/>
                </a:solidFill>
                <a:latin typeface="Aptos"/>
              </a:defRPr>
            </a:pPr>
            <a:r>
              <a:t>EfficientDet-D0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480560" y="21003768"/>
            <a:ext cx="1024128" cy="612648"/>
          </a:xfrm>
          <a:prstGeom prst="rect">
            <a:avLst/>
          </a:prstGeom>
          <a:solidFill>
            <a:srgbClr val="EEF7F3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53712" y="21168360"/>
            <a:ext cx="877824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4374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504688" y="21003768"/>
            <a:ext cx="1865376" cy="612648"/>
          </a:xfrm>
          <a:prstGeom prst="rect">
            <a:avLst/>
          </a:prstGeom>
          <a:solidFill>
            <a:srgbClr val="EEF7F3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577840" y="21168360"/>
            <a:ext cx="1719072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43747"/>
                </a:solidFill>
                <a:latin typeface="Aptos"/>
              </a:defRPr>
            </a:pPr>
            <a:r>
              <a:t>56.75%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70064" y="21003768"/>
            <a:ext cx="1673352" cy="612648"/>
          </a:xfrm>
          <a:prstGeom prst="rect">
            <a:avLst/>
          </a:prstGeom>
          <a:solidFill>
            <a:srgbClr val="EEF7F3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43216" y="21168360"/>
            <a:ext cx="1527048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43747"/>
                </a:solidFill>
                <a:latin typeface="Aptos"/>
              </a:defRPr>
            </a:pPr>
            <a:r>
              <a:t>68.36%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043416" y="21003768"/>
            <a:ext cx="2029968" cy="612648"/>
          </a:xfrm>
          <a:prstGeom prst="rect">
            <a:avLst/>
          </a:prstGeom>
          <a:solidFill>
            <a:srgbClr val="EEF7F3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116568" y="21168360"/>
            <a:ext cx="1883664" cy="32918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43747"/>
                </a:solidFill>
                <a:latin typeface="Aptos"/>
              </a:defRPr>
            </a:pPr>
            <a:r>
              <a:t>46.68%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34440" y="21790152"/>
            <a:ext cx="9838944" cy="1042415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300" b="0">
                <a:solidFill>
                  <a:srgbClr val="526779"/>
                </a:solidFill>
                <a:latin typeface="Aptos"/>
              </a:defRPr>
            </a:pPr>
            <a:r>
              <a:t>Same 4,157-image pooled validation split. P/R: confidence 0.25, IoU 0.50. EfficientDet has completed only two rounds; these scores do not establish a final winner.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234440" y="22969728"/>
            <a:ext cx="9838944" cy="1444752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444752" y="23143464"/>
            <a:ext cx="9418320" cy="37490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075D93"/>
                </a:solidFill>
                <a:latin typeface="Aptos"/>
              </a:defRPr>
            </a:pPr>
            <a:r>
              <a:t>HISTORICAL YOLOv8n  •  ROUND 40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444752" y="23554944"/>
            <a:ext cx="9418320" cy="832104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075D93"/>
                </a:solidFill>
                <a:latin typeface="Aptos"/>
              </a:defRPr>
            </a:pPr>
            <a:r>
              <a:t>Precision 66.27%    Recall 57.43%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075D93"/>
                </a:solidFill>
                <a:latin typeface="Aptos"/>
              </a:defRPr>
            </a:pPr>
            <a:r>
              <a:t>mAP50 59.55%    mAP50–95 38.81%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34440" y="24588216"/>
            <a:ext cx="9838944" cy="102412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526779"/>
                </a:solidFill>
                <a:latin typeface="Aptos"/>
              </a:defRPr>
            </a:pPr>
            <a:r>
              <a:t>30-class training; validation-image-weighted native client summaries. A common 24-class evaluation of this checkpoint is pending; the scores above are not directly comparable.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2070080" y="18781776"/>
            <a:ext cx="3575304" cy="3200400"/>
          </a:xfrm>
          <a:prstGeom prst="roundRect">
            <a:avLst>
              <a:gd name="adj" fmla="val 8000"/>
            </a:avLst>
          </a:prstGeom>
          <a:solidFill>
            <a:srgbClr val="24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12161519" y="18873216"/>
            <a:ext cx="3392424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3423392" y="18900648"/>
            <a:ext cx="868680" cy="50292"/>
          </a:xfrm>
          <a:prstGeom prst="roundRect">
            <a:avLst>
              <a:gd name="adj" fmla="val 8000"/>
            </a:avLst>
          </a:prstGeom>
          <a:solidFill>
            <a:srgbClr val="24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4" name="Picture 123" descr="sigatoka-673-_jpeg.rf.2dd96f7c2f89eda7b07c37de5aed6319.jpg"/>
          <p:cNvPicPr>
            <a:picLocks noChangeAspect="1"/>
          </p:cNvPicPr>
          <p:nvPr/>
        </p:nvPicPr>
        <p:blipFill>
          <a:blip r:embed="rId2"/>
          <a:srcRect t="17622" b="17622"/>
          <a:stretch>
            <a:fillRect/>
          </a:stretch>
        </p:blipFill>
        <p:spPr>
          <a:xfrm>
            <a:off x="12262104" y="19110960"/>
            <a:ext cx="3191256" cy="2066543"/>
          </a:xfrm>
          <a:prstGeom prst="rect">
            <a:avLst/>
          </a:prstGeom>
        </p:spPr>
      </p:pic>
      <p:sp>
        <p:nvSpPr>
          <p:cNvPr id="125" name="Rectangle 124"/>
          <p:cNvSpPr/>
          <p:nvPr/>
        </p:nvSpPr>
        <p:spPr>
          <a:xfrm>
            <a:off x="12262104" y="19110960"/>
            <a:ext cx="3191256" cy="2066543"/>
          </a:xfrm>
          <a:prstGeom prst="rect">
            <a:avLst/>
          </a:prstGeom>
          <a:noFill/>
          <a:ln w="25400">
            <a:solidFill>
              <a:srgbClr val="FFE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2216384" y="21204935"/>
            <a:ext cx="3282696" cy="356616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226D4A"/>
                </a:solidFill>
                <a:latin typeface="Aptos"/>
              </a:defRPr>
            </a:pPr>
            <a:r>
              <a:t>Banana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216384" y="21607272"/>
            <a:ext cx="3282696" cy="27432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26779"/>
                </a:solidFill>
                <a:latin typeface="Aptos"/>
              </a:defRPr>
            </a:pPr>
            <a:r>
              <a:t>Sigatoka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6230600" y="18781776"/>
            <a:ext cx="3575304" cy="3200400"/>
          </a:xfrm>
          <a:prstGeom prst="roundRect">
            <a:avLst>
              <a:gd name="adj" fmla="val 8000"/>
            </a:avLst>
          </a:prstGeom>
          <a:solidFill>
            <a:srgbClr val="24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16322040" y="18873216"/>
            <a:ext cx="3392424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17583912" y="18900648"/>
            <a:ext cx="868680" cy="50292"/>
          </a:xfrm>
          <a:prstGeom prst="roundRect">
            <a:avLst>
              <a:gd name="adj" fmla="val 8000"/>
            </a:avLst>
          </a:prstGeom>
          <a:solidFill>
            <a:srgbClr val="24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Picture 130" descr="Black-Rot-1-_jpeg.rf.2dd972a1b35648047e8dac35f66c81de.jpg"/>
          <p:cNvPicPr>
            <a:picLocks noChangeAspect="1"/>
          </p:cNvPicPr>
          <p:nvPr/>
        </p:nvPicPr>
        <p:blipFill>
          <a:blip r:embed="rId3"/>
          <a:srcRect t="17622" b="17622"/>
          <a:stretch>
            <a:fillRect/>
          </a:stretch>
        </p:blipFill>
        <p:spPr>
          <a:xfrm>
            <a:off x="16422624" y="19110960"/>
            <a:ext cx="3191256" cy="2066543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16422624" y="19110960"/>
            <a:ext cx="3191256" cy="2066543"/>
          </a:xfrm>
          <a:prstGeom prst="rect">
            <a:avLst/>
          </a:prstGeom>
          <a:noFill/>
          <a:ln w="25400">
            <a:solidFill>
              <a:srgbClr val="FFE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6376904" y="21204935"/>
            <a:ext cx="3282696" cy="356616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226D4A"/>
                </a:solidFill>
                <a:latin typeface="Aptos"/>
              </a:defRPr>
            </a:pPr>
            <a:r>
              <a:t>Cauliflower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6376904" y="21607272"/>
            <a:ext cx="3282696" cy="27432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26779"/>
                </a:solidFill>
                <a:latin typeface="Aptos"/>
              </a:defRPr>
            </a:pPr>
            <a:r>
              <a:t>Black Rot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2070080" y="22229064"/>
            <a:ext cx="3575304" cy="3200400"/>
          </a:xfrm>
          <a:prstGeom prst="roundRect">
            <a:avLst>
              <a:gd name="adj" fmla="val 8000"/>
            </a:avLst>
          </a:prstGeom>
          <a:solidFill>
            <a:srgbClr val="24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2161519" y="22320504"/>
            <a:ext cx="3392424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13423392" y="22347935"/>
            <a:ext cx="868680" cy="50292"/>
          </a:xfrm>
          <a:prstGeom prst="roundRect">
            <a:avLst>
              <a:gd name="adj" fmla="val 8000"/>
            </a:avLst>
          </a:prstGeom>
          <a:solidFill>
            <a:srgbClr val="24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Picture 137" descr="Early-Leaf-Spot-52-_jpg.rf.f8fe7a9f6d46cc23f0f6085200b14f38.jpg"/>
          <p:cNvPicPr>
            <a:picLocks noChangeAspect="1"/>
          </p:cNvPicPr>
          <p:nvPr/>
        </p:nvPicPr>
        <p:blipFill>
          <a:blip r:embed="rId4"/>
          <a:srcRect t="17622" b="17622"/>
          <a:stretch>
            <a:fillRect/>
          </a:stretch>
        </p:blipFill>
        <p:spPr>
          <a:xfrm>
            <a:off x="12262104" y="22558248"/>
            <a:ext cx="3191256" cy="2066543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12623613" y="23510492"/>
            <a:ext cx="618305" cy="665676"/>
          </a:xfrm>
          <a:prstGeom prst="rect">
            <a:avLst/>
          </a:prstGeom>
          <a:noFill/>
          <a:ln w="25400">
            <a:solidFill>
              <a:srgbClr val="FFE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2216384" y="24652223"/>
            <a:ext cx="3282696" cy="356616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226D4A"/>
                </a:solidFill>
                <a:latin typeface="Aptos"/>
              </a:defRPr>
            </a:pPr>
            <a:r>
              <a:t>Groundnut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216384" y="25054560"/>
            <a:ext cx="3282696" cy="27432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26779"/>
                </a:solidFill>
                <a:latin typeface="Aptos"/>
              </a:defRPr>
            </a:pPr>
            <a:r>
              <a:t>Early Leaf Spot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6230600" y="22229064"/>
            <a:ext cx="3575304" cy="3200400"/>
          </a:xfrm>
          <a:prstGeom prst="roundRect">
            <a:avLst>
              <a:gd name="adj" fmla="val 8000"/>
            </a:avLst>
          </a:prstGeom>
          <a:solidFill>
            <a:srgbClr val="24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16322040" y="22320504"/>
            <a:ext cx="3392424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17583912" y="22347935"/>
            <a:ext cx="868680" cy="50292"/>
          </a:xfrm>
          <a:prstGeom prst="roundRect">
            <a:avLst>
              <a:gd name="adj" fmla="val 8000"/>
            </a:avLst>
          </a:prstGeom>
          <a:solidFill>
            <a:srgbClr val="243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Black-Leaf-Spot-419-_jpg.rf.f04b9e5bff3c8b51e64a766ee109eb6e.jpg"/>
          <p:cNvPicPr>
            <a:picLocks noChangeAspect="1"/>
          </p:cNvPicPr>
          <p:nvPr/>
        </p:nvPicPr>
        <p:blipFill>
          <a:blip r:embed="rId5"/>
          <a:srcRect t="17622" b="17622"/>
          <a:stretch>
            <a:fillRect/>
          </a:stretch>
        </p:blipFill>
        <p:spPr>
          <a:xfrm>
            <a:off x="16422624" y="22558248"/>
            <a:ext cx="3191256" cy="2066543"/>
          </a:xfrm>
          <a:prstGeom prst="rect">
            <a:avLst/>
          </a:prstGeom>
        </p:spPr>
      </p:pic>
      <p:sp>
        <p:nvSpPr>
          <p:cNvPr id="146" name="Rectangle 145"/>
          <p:cNvSpPr/>
          <p:nvPr/>
        </p:nvSpPr>
        <p:spPr>
          <a:xfrm>
            <a:off x="17221684" y="23671301"/>
            <a:ext cx="1104473" cy="732991"/>
          </a:xfrm>
          <a:prstGeom prst="rect">
            <a:avLst/>
          </a:prstGeom>
          <a:noFill/>
          <a:ln w="25400">
            <a:solidFill>
              <a:srgbClr val="FFE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6376904" y="24652223"/>
            <a:ext cx="3282696" cy="356616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226D4A"/>
                </a:solidFill>
                <a:latin typeface="Aptos"/>
              </a:defRPr>
            </a:pPr>
            <a:r>
              <a:t>Radish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6376904" y="25054560"/>
            <a:ext cx="3282696" cy="27432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26779"/>
                </a:solidFill>
                <a:latin typeface="Aptos"/>
              </a:defRPr>
            </a:pPr>
            <a:r>
              <a:t>Black Leaf Spot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841480" y="25603200"/>
            <a:ext cx="8138160" cy="22860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526779"/>
                </a:solidFill>
                <a:latin typeface="Aptos"/>
              </a:defRPr>
            </a:pPr>
            <a:r>
              <a:t>Labelled validation examples • yellow boxes are ground truth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40080" y="26197560"/>
            <a:ext cx="20103840" cy="22860"/>
          </a:xfrm>
          <a:prstGeom prst="rect">
            <a:avLst/>
          </a:prstGeom>
          <a:solidFill>
            <a:srgbClr val="39B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515600" y="26554176"/>
            <a:ext cx="18288" cy="2834640"/>
          </a:xfrm>
          <a:prstGeom prst="rect">
            <a:avLst/>
          </a:prstGeom>
          <a:solidFill>
            <a:srgbClr val="D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60120" y="26435304"/>
            <a:ext cx="9144000" cy="45720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600" b="1">
                <a:solidFill>
                  <a:srgbClr val="075D93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972800" y="26435304"/>
            <a:ext cx="9144000" cy="45720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600" b="1">
                <a:solidFill>
                  <a:srgbClr val="075D93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051560" y="27175968"/>
            <a:ext cx="4361688" cy="813816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197863" y="27249119"/>
            <a:ext cx="4069080" cy="38404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226D4A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197863" y="27688031"/>
            <a:ext cx="4069080" cy="256032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526779"/>
                </a:solidFill>
                <a:latin typeface="Aptos"/>
              </a:defRPr>
            </a:pPr>
            <a:r>
              <a:t>Data &amp; experiment tools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696712" y="27175968"/>
            <a:ext cx="4361688" cy="813816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843016" y="27249119"/>
            <a:ext cx="4069080" cy="38404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226D4A"/>
                </a:solidFill>
                <a:latin typeface="Aptos"/>
              </a:defRPr>
            </a:pPr>
            <a:r>
              <a:t>PyTorch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843016" y="27688031"/>
            <a:ext cx="4069080" cy="256032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526779"/>
                </a:solidFill>
                <a:latin typeface="Aptos"/>
              </a:defRPr>
            </a:pPr>
            <a:r>
              <a:t>Detector implementations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51560" y="28200096"/>
            <a:ext cx="4361688" cy="813816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197863" y="28273248"/>
            <a:ext cx="4069080" cy="38404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226D4A"/>
                </a:solidFill>
                <a:latin typeface="Aptos"/>
              </a:defRPr>
            </a:pPr>
            <a:r>
              <a:t>Ultralytics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97863" y="28712160"/>
            <a:ext cx="4069080" cy="256032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526779"/>
                </a:solidFill>
                <a:latin typeface="Aptos"/>
              </a:defRPr>
            </a:pPr>
            <a:r>
              <a:t>Historical YOLOv8n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696712" y="28200096"/>
            <a:ext cx="4361688" cy="813816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843016" y="28273248"/>
            <a:ext cx="4069080" cy="38404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400" b="1">
                <a:solidFill>
                  <a:srgbClr val="226D4A"/>
                </a:solidFill>
                <a:latin typeface="Aptos"/>
              </a:defRPr>
            </a:pPr>
            <a:r>
              <a:t>Colab + Drive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843016" y="28712160"/>
            <a:ext cx="4069080" cy="256032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526779"/>
                </a:solidFill>
                <a:latin typeface="Aptos"/>
              </a:defRPr>
            </a:pPr>
            <a:r>
              <a:t>GPU runs &amp; checkpoints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1109960" y="27185112"/>
            <a:ext cx="8842248" cy="2011680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43747"/>
                </a:solidFill>
                <a:latin typeface="Aptos"/>
              </a:defRPr>
            </a:pPr>
            <a:r>
              <a:t>The revised study contains four crops and 24 classes. The historical round-40 YOLO baseline is retained. The other three detectors will continue toward round 30. Final conclusions require completed runs, common evaluation and measured deployment cost.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60120" y="29553408"/>
            <a:ext cx="19463760" cy="338328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075D93"/>
                </a:solidFill>
                <a:latin typeface="Aptos"/>
              </a:defRPr>
            </a:pPr>
            <a:r>
              <a:t>NEXT: complete training • evaluate retained YOLO on 24 classes • compare accuracy, speed and size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60120" y="30028896"/>
            <a:ext cx="19463760" cy="219456"/>
          </a:xfrm>
          <a:prstGeom prst="rect">
            <a:avLst/>
          </a:prstGeom>
          <a:noFill/>
        </p:spPr>
        <p:txBody>
          <a:bodyPr wrap="square" lIns="36576" rIns="36576" tIns="13716" bIns="13716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526779"/>
                </a:solidFill>
                <a:latin typeface="Aptos"/>
              </a:defRPr>
            </a:pPr>
            <a:r>
              <a:t>DATA: 14,514 train / 4,157 validation / 2,091 test  •  3 simulated clients  •  Progress snapshot: 10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 Vision — revised FYP seminar poster</dc:title>
  <dc:subject>A1 portrait; stacked reference layout; current four-crop detection study</dc:subject>
  <dc:creator>Hannan Rehman, Fuzail Talpur, Ali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